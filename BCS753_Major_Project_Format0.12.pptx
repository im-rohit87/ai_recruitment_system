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F8C752-C599-43E0-AF3E-0C5C76907463}">
  <a:tblStyle styleId="{D8F8C752-C599-43E0-AF3E-0C5C769074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" name="Google Shape;3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180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CFE3EE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914400" y="1691640"/>
            <a:ext cx="103601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LLOYD INSTITUTE OF ENGINEERING &amp; TECHNOLOGY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14400" y="2114821"/>
            <a:ext cx="10360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250"/>
              <a:buFont typeface="Calibri"/>
              <a:buNone/>
            </a:pPr>
            <a:r>
              <a:rPr lang="en-US" sz="1650" b="0" i="0" u="none" strike="noStrike" cap="non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Greater Noida  |  Department of Computer Science &amp; Engineering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14400" y="2715775"/>
            <a:ext cx="10360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200"/>
              <a:buFont typeface="Calibri"/>
              <a:buNone/>
            </a:pPr>
            <a:r>
              <a:rPr lang="en-US" sz="2000" b="1" i="0" u="none" strike="noStrike" cap="none">
                <a:solidFill>
                  <a:srgbClr val="6FB6CE"/>
                </a:solidFill>
                <a:latin typeface="Calibri"/>
                <a:ea typeface="Calibri"/>
                <a:cs typeface="Calibri"/>
                <a:sym typeface="Calibri"/>
              </a:rPr>
              <a:t>B.TECH FINAL YEAR MAJOR PROJECT  ·  BCS753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280160" y="3200400"/>
            <a:ext cx="9628632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463040" y="3200400"/>
            <a:ext cx="926287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3000" b="1" dirty="0">
                <a:solidFill>
                  <a:srgbClr val="FFFFFF"/>
                </a:solidFill>
                <a:latin typeface="Cambria"/>
                <a:ea typeface="Cambria"/>
                <a:cs typeface="Calibri"/>
                <a:sym typeface="Cambria"/>
              </a:rPr>
              <a:t>AI Recruitment System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914400" y="4709160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300"/>
              <a:buFont typeface="Calibri"/>
              <a:buNone/>
            </a:pPr>
            <a:r>
              <a:rPr lang="en-US" sz="1500" b="0" i="1" u="none" strike="noStrike" cap="non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Project Presentation – I   |   Session 2026–27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6094476" y="5257800"/>
            <a:ext cx="0" cy="118872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3"/>
          <p:cNvSpPr/>
          <p:nvPr/>
        </p:nvSpPr>
        <p:spPr>
          <a:xfrm>
            <a:off x="914400" y="53035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050"/>
              <a:buFont typeface="Calibri"/>
              <a:buNone/>
            </a:pPr>
            <a:r>
              <a:rPr lang="en-US" sz="1150" b="1" i="0" u="none" strike="noStrike" cap="none">
                <a:solidFill>
                  <a:srgbClr val="6FB6CE"/>
                </a:solidFill>
                <a:latin typeface="Calibri"/>
                <a:ea typeface="Calibri"/>
                <a:cs typeface="Calibri"/>
                <a:sym typeface="Calibri"/>
              </a:rPr>
              <a:t>GUIDE NAME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914400" y="557784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796416" y="6077808"/>
            <a:ext cx="4480560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1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[ </a:t>
            </a:r>
            <a:r>
              <a:rPr lang="en-US" sz="1200" dirty="0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r>
              <a:rPr lang="en-US" sz="1200" b="0" i="0" u="none" strike="noStrike" cap="none" dirty="0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, Department of CSE ]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766560" y="5303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050"/>
              <a:buFont typeface="Calibri"/>
              <a:buNone/>
            </a:pPr>
            <a:r>
              <a:rPr lang="en-US" sz="1250" b="1" i="0" u="none" strike="noStrike" cap="none">
                <a:solidFill>
                  <a:srgbClr val="6FB6CE"/>
                </a:solidFill>
                <a:latin typeface="Calibri"/>
                <a:ea typeface="Calibri"/>
                <a:cs typeface="Calibri"/>
                <a:sym typeface="Calibri"/>
              </a:rPr>
              <a:t>SUBMITTED BY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766559" y="5577840"/>
            <a:ext cx="4914163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2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lang="en-US" sz="12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Rohit Kumar</a:t>
            </a:r>
            <a:r>
              <a:rPr lang="en-US" sz="12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—   Roll No. [ </a:t>
            </a:r>
            <a:r>
              <a:rPr lang="en-US" sz="12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2401720109022</a:t>
            </a:r>
            <a:r>
              <a:rPr lang="en-US" sz="12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]   —   Sec [ C ]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2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lang="en-US" sz="12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Prakash Kumar</a:t>
            </a:r>
            <a:r>
              <a:rPr lang="en-US" sz="12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—   Roll No. [ </a:t>
            </a:r>
            <a:r>
              <a:rPr lang="en-US" sz="12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2401720109020</a:t>
            </a:r>
            <a:r>
              <a:rPr lang="en-US" sz="12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]   —   Sec [ C ]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2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lang="en-US" sz="12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Manish Jitender Mishra</a:t>
            </a:r>
            <a:r>
              <a:rPr lang="en-US" sz="12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—   Roll No. [2401530109013]   —   Sec [ C]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3" title="LLOYD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1563" y="424800"/>
            <a:ext cx="1005835" cy="9986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95AB12-5B58-4432-06E7-59C79CEDA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971363"/>
              </p:ext>
            </p:extLst>
          </p:nvPr>
        </p:nvGraphicFramePr>
        <p:xfrm>
          <a:off x="340770" y="5590622"/>
          <a:ext cx="2846357" cy="441960"/>
        </p:xfrm>
        <a:graphic>
          <a:graphicData uri="http://schemas.openxmlformats.org/drawingml/2006/table">
            <a:tbl>
              <a:tblPr/>
              <a:tblGrid>
                <a:gridCol w="2846357">
                  <a:extLst>
                    <a:ext uri="{9D8B030D-6E8A-4147-A177-3AD203B41FA5}">
                      <a16:colId xmlns:a16="http://schemas.microsoft.com/office/drawing/2014/main" val="652369306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>Dr. Rajeev Sharma</a:t>
                      </a:r>
                    </a:p>
                  </a:txBody>
                  <a:tcPr marL="19050" marR="1905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78251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Presentation Agenda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914400" y="1600200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914400" y="16002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36192" y="1581912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914400" y="2258568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914400" y="22585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536192" y="224028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914400" y="2916936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914400" y="29169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36192" y="2898648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914400" y="3575304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914400" y="357530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536192" y="3557016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309360" y="1600200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6309360" y="16002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931152" y="1581912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System Workflow / Architecture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309360" y="2258568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6309360" y="22585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931152" y="224028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Expected Outcome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309360" y="2916936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309360" y="29169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931152" y="2898648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34450" y="1543875"/>
            <a:ext cx="9849000" cy="44454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 cap="flat" cmpd="sng">
            <a:solidFill>
              <a:srgbClr val="DEE4E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54475" y="1772638"/>
            <a:ext cx="9106200" cy="42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30000"/>
              </a:lnSpc>
              <a:buClr>
                <a:srgbClr val="6B7593"/>
              </a:buClr>
              <a:buSzPts val="1400"/>
            </a:pPr>
            <a:r>
              <a:rPr lang="en-US" sz="2800" dirty="0"/>
              <a:t>AI Interview System automates resume screening, skill extraction, question generation, interview recording and candidate evaluation.</a:t>
            </a: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br>
              <a:rPr lang="en-US" sz="1300" i="1" dirty="0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 i="1" dirty="0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 i="1" dirty="0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 i="1" dirty="0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 i="1" dirty="0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1211473" y="1744254"/>
            <a:ext cx="46635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dirty="0"/>
              <a:t>Resume Parsing</a:t>
            </a:r>
            <a:endParaRPr sz="3200" dirty="0"/>
          </a:p>
        </p:txBody>
      </p:sp>
      <p:sp>
        <p:nvSpPr>
          <p:cNvPr id="92" name="Google Shape;92;p6"/>
          <p:cNvSpPr/>
          <p:nvPr/>
        </p:nvSpPr>
        <p:spPr>
          <a:xfrm>
            <a:off x="1463040" y="228600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2423160" y="2107683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263580" y="1664208"/>
            <a:ext cx="46635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dirty="0"/>
              <a:t>Skill Extraction</a:t>
            </a:r>
            <a:endParaRPr sz="3200" dirty="0"/>
          </a:p>
        </p:txBody>
      </p:sp>
      <p:sp>
        <p:nvSpPr>
          <p:cNvPr id="95" name="Google Shape;95;p6"/>
          <p:cNvSpPr/>
          <p:nvPr/>
        </p:nvSpPr>
        <p:spPr>
          <a:xfrm>
            <a:off x="6583680" y="228600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7543775" y="2016245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1234440" y="4160520"/>
            <a:ext cx="4663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dirty="0"/>
              <a:t>Interview Automation</a:t>
            </a:r>
            <a:endParaRPr sz="3200" dirty="0"/>
          </a:p>
        </p:txBody>
      </p:sp>
      <p:sp>
        <p:nvSpPr>
          <p:cNvPr id="98" name="Google Shape;98;p6"/>
          <p:cNvSpPr/>
          <p:nvPr/>
        </p:nvSpPr>
        <p:spPr>
          <a:xfrm>
            <a:off x="1463040" y="434340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2423160" y="438912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355080" y="4160520"/>
            <a:ext cx="4663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dirty="0"/>
              <a:t>Candidate Evaluation</a:t>
            </a:r>
            <a:endParaRPr sz="3200" dirty="0"/>
          </a:p>
        </p:txBody>
      </p:sp>
      <p:sp>
        <p:nvSpPr>
          <p:cNvPr id="101" name="Google Shape;101;p6"/>
          <p:cNvSpPr/>
          <p:nvPr/>
        </p:nvSpPr>
        <p:spPr>
          <a:xfrm>
            <a:off x="6583680" y="434340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7543800" y="438912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Technology Stack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234440" y="1514378"/>
            <a:ext cx="9849000" cy="44454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3200" dirty="0"/>
              <a:t>• React.js</a:t>
            </a:r>
          </a:p>
          <a:p>
            <a:r>
              <a:rPr lang="en-IN" sz="3200" dirty="0"/>
              <a:t>• Node.js</a:t>
            </a:r>
          </a:p>
          <a:p>
            <a:r>
              <a:rPr lang="en-IN" sz="3200" dirty="0"/>
              <a:t>• Express.js</a:t>
            </a:r>
          </a:p>
          <a:p>
            <a:r>
              <a:rPr lang="en-IN" sz="3200" dirty="0"/>
              <a:t>• PostgreSQL</a:t>
            </a:r>
          </a:p>
        </p:txBody>
      </p:sp>
      <p:sp>
        <p:nvSpPr>
          <p:cNvPr id="116" name="Google Shape;116;p7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Literature Survey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9" name="Google Shape;129;p8"/>
          <p:cNvGraphicFramePr/>
          <p:nvPr>
            <p:extLst>
              <p:ext uri="{D42A27DB-BD31-4B8C-83A1-F6EECF244321}">
                <p14:modId xmlns:p14="http://schemas.microsoft.com/office/powerpoint/2010/main" val="3941452294"/>
              </p:ext>
            </p:extLst>
          </p:nvPr>
        </p:nvGraphicFramePr>
        <p:xfrm>
          <a:off x="1234440" y="1600211"/>
          <a:ext cx="9692625" cy="4662082"/>
        </p:xfrm>
        <a:graphic>
          <a:graphicData uri="http://schemas.openxmlformats.org/drawingml/2006/table">
            <a:tbl>
              <a:tblPr>
                <a:noFill/>
                <a:tableStyleId>{D8F8C752-C599-43E0-AF3E-0C5C76907463}</a:tableStyleId>
              </a:tblPr>
              <a:tblGrid>
                <a:gridCol w="73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S.No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Title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Author(s)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Journal / Year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Findings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i="1" u="none" strike="noStrike" cap="none" dirty="0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[1]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  <a:tabLst/>
                        <a:defRPr/>
                      </a:pPr>
                      <a:r>
                        <a:rPr lang="en-US" sz="1100" dirty="0"/>
                        <a:t>AI-Based Resume Screening and Recruitment Analytics: A Bibliometric and Systematic Review</a:t>
                      </a:r>
                      <a:endParaRPr lang="en-IN" sz="11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lang="en-IN" sz="1100" dirty="0"/>
                        <a:t>Chowdhury Md. Ashraful Bari, </a:t>
                      </a:r>
                      <a:r>
                        <a:rPr lang="en-IN" sz="1100" dirty="0" err="1"/>
                        <a:t>Moin</a:t>
                      </a:r>
                      <a:r>
                        <a:rPr lang="en-IN" sz="1100" dirty="0"/>
                        <a:t> </a:t>
                      </a:r>
                      <a:r>
                        <a:rPr lang="en-IN" sz="1100" dirty="0" err="1"/>
                        <a:t>Mahedi</a:t>
                      </a:r>
                      <a:r>
                        <a:rPr lang="en-IN" sz="1100" dirty="0"/>
                        <a:t> Sharker, Md. </a:t>
                      </a:r>
                      <a:r>
                        <a:rPr lang="en-IN" sz="1100" dirty="0" err="1"/>
                        <a:t>Aminul</a:t>
                      </a:r>
                      <a:r>
                        <a:rPr lang="en-IN" sz="1100" dirty="0"/>
                        <a:t> Haque Khan, Kazi Abdul Mannan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lang="en-IN" sz="1100" dirty="0"/>
                        <a:t>SSRN, 2026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dirty="0"/>
                        <a:t>AI improves resume screening efficiency and recruitment analytics. Major challenges include algorithmic bias, explainability, and fairness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0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lang="en-IN" sz="11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[2]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Role of Artificial Intelligence in Employee Recruitment: Systematic Review and Future Research Directions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i-FI" dirty="0"/>
                        <a:t>Alina R. Rybakova et al.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Discover Global Society, 2025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 automates resume parsing, candidate screening, interview scheduling, and predictive hiring while reducing manual effort. Ethical concerns include transparency and bias. </a:t>
                      </a:r>
                      <a:endParaRPr lang="en-IN" dirty="0"/>
                    </a:p>
                  </a:txBody>
                  <a:tcPr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0" name="Google Shape;130;p8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System Workflow / Architecture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1234450" y="1600200"/>
            <a:ext cx="9692700" cy="458520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5875" cap="flat" cmpd="sng">
            <a:solidFill>
              <a:srgbClr val="DEE4E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1828800" y="2551422"/>
            <a:ext cx="8503800" cy="24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600"/>
              <a:buFont typeface="Calibri"/>
              <a:buNone/>
            </a:pPr>
            <a:endParaRPr sz="1800" i="1" dirty="0">
              <a:solidFill>
                <a:srgbClr val="6B75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7446C0-FE8F-47D3-C0AF-B09903259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50" y="1490472"/>
            <a:ext cx="9540802" cy="4585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Expected Outcome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1234380" y="1600150"/>
            <a:ext cx="9692700" cy="77730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dirty="0"/>
              <a:t>	</a:t>
            </a:r>
            <a:r>
              <a:rPr lang="en-IN" sz="3200" dirty="0"/>
              <a:t>✓ Faster Hiring</a:t>
            </a:r>
          </a:p>
        </p:txBody>
      </p:sp>
      <p:sp>
        <p:nvSpPr>
          <p:cNvPr id="159" name="Google Shape;159;p10"/>
          <p:cNvSpPr/>
          <p:nvPr/>
        </p:nvSpPr>
        <p:spPr>
          <a:xfrm>
            <a:off x="1478240" y="1801358"/>
            <a:ext cx="384000" cy="384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1478240" y="180135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2072600" y="160019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1249640" y="2560310"/>
            <a:ext cx="9692700" cy="77730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dirty="0"/>
              <a:t>	</a:t>
            </a:r>
            <a:r>
              <a:rPr lang="en-IN" sz="3200" dirty="0"/>
              <a:t>✓ Automated Evaluation</a:t>
            </a:r>
          </a:p>
        </p:txBody>
      </p:sp>
      <p:sp>
        <p:nvSpPr>
          <p:cNvPr id="163" name="Google Shape;163;p10"/>
          <p:cNvSpPr/>
          <p:nvPr/>
        </p:nvSpPr>
        <p:spPr>
          <a:xfrm>
            <a:off x="1478240" y="2761478"/>
            <a:ext cx="384000" cy="384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1478240" y="276147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2072600" y="256031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1249640" y="3520430"/>
            <a:ext cx="9692700" cy="77730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dirty="0"/>
              <a:t>	</a:t>
            </a:r>
            <a:r>
              <a:rPr lang="en-IN" sz="3200" dirty="0"/>
              <a:t>✓ Better Screening</a:t>
            </a:r>
          </a:p>
        </p:txBody>
      </p:sp>
      <p:sp>
        <p:nvSpPr>
          <p:cNvPr id="167" name="Google Shape;167;p10"/>
          <p:cNvSpPr/>
          <p:nvPr/>
        </p:nvSpPr>
        <p:spPr>
          <a:xfrm>
            <a:off x="1478240" y="3721598"/>
            <a:ext cx="384000" cy="384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1478240" y="372159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2072600" y="352043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1097280" y="4498898"/>
            <a:ext cx="9692700" cy="77730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dirty="0"/>
              <a:t>	</a:t>
            </a:r>
            <a:r>
              <a:rPr lang="en-IN" sz="3200" dirty="0"/>
              <a:t>✓ Centralized Management</a:t>
            </a:r>
          </a:p>
        </p:txBody>
      </p:sp>
      <p:sp>
        <p:nvSpPr>
          <p:cNvPr id="171" name="Google Shape;171;p10"/>
          <p:cNvSpPr/>
          <p:nvPr/>
        </p:nvSpPr>
        <p:spPr>
          <a:xfrm>
            <a:off x="1478240" y="4681718"/>
            <a:ext cx="384000" cy="384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1478240" y="468171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2072600" y="448055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08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1249640" y="4563960"/>
            <a:ext cx="9692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300"/>
              <a:buFont typeface="Calibri"/>
              <a:buNone/>
            </a:pPr>
            <a:r>
              <a:rPr lang="en-US" i="1" dirty="0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1249650" y="1243575"/>
            <a:ext cx="9692700" cy="30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endParaRPr lang="en-US" sz="3200" b="0" i="1" u="none" strike="noStrike" cap="none" dirty="0">
              <a:solidFill>
                <a:srgbClr val="1B1F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lang="en-US" sz="3200" b="0" i="1" u="none" strike="noStrike" cap="none" dirty="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[1]   </a:t>
            </a:r>
            <a:r>
              <a:rPr lang="en-US" sz="3200" i="1" dirty="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React Docs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lang="en-US" sz="3200" b="0" i="1" u="none" strike="noStrike" cap="none" dirty="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[2]   Node.js Docs</a:t>
            </a:r>
            <a:br>
              <a:rPr lang="en-US" sz="3200" i="1" dirty="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lang="en-US" sz="3200" b="0" i="1" u="none" strike="noStrike" cap="none" dirty="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[3]   PostgreSQL Docs</a:t>
            </a:r>
            <a:br>
              <a:rPr lang="en-US" sz="1300" i="1" dirty="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br>
              <a:rPr lang="en-US" sz="1300" i="1" dirty="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180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2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CFE3EE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914400" y="2468880"/>
            <a:ext cx="1036015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914400" y="3520440"/>
            <a:ext cx="1036015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Questions &amp; suggestions are welcome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12"/>
          <p:cNvCxnSpPr/>
          <p:nvPr/>
        </p:nvCxnSpPr>
        <p:spPr>
          <a:xfrm>
            <a:off x="5271516" y="4160520"/>
            <a:ext cx="1645920" cy="0"/>
          </a:xfrm>
          <a:prstGeom prst="straightConnector1">
            <a:avLst/>
          </a:prstGeom>
          <a:noFill/>
          <a:ln w="254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1" name="Google Shape;201;p12"/>
          <p:cNvSpPr/>
          <p:nvPr/>
        </p:nvSpPr>
        <p:spPr>
          <a:xfrm>
            <a:off x="915925" y="4559880"/>
            <a:ext cx="10360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100"/>
              <a:buFont typeface="Calibri"/>
              <a:buNone/>
            </a:pPr>
            <a:r>
              <a:rPr lang="en-US" sz="1300" b="0" i="0" u="none" strike="noStrike" cap="non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Lloyd Institute of Engineering &amp; Technology, Greater Noida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469</Words>
  <Application>Microsoft Office PowerPoint</Application>
  <PresentationFormat>Widescreen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Rohit Kumar</dc:creator>
  <cp:lastModifiedBy>Rohit Kumar</cp:lastModifiedBy>
  <cp:revision>4</cp:revision>
  <dcterms:modified xsi:type="dcterms:W3CDTF">2026-09-26T08:27:44Z</dcterms:modified>
</cp:coreProperties>
</file>